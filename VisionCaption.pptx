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D1B2A"/>
                </a:solidFill>
                <a:latin typeface="Arial"/>
              </a:rPr>
              <a:t>Scene Class Distribution (1000 samples)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1E90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3344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people_outdoor</c:v>
                  </c:pt>
                  <c:pt idx="1">
                    <c:v>dog_outdoor</c:v>
                  </c:pt>
                  <c:pt idx="2">
                    <c:v>nature_land</c:v>
                  </c:pt>
                  <c:pt idx="3">
                    <c:v>people_water</c:v>
                  </c:pt>
                  <c:pt idx="4">
                    <c:v>people_sports</c:v>
                  </c:pt>
                  <c:pt idx="5">
                    <c:v>dog_water</c:v>
                  </c:pt>
                  <c:pt idx="6">
                    <c:v>people_indoor</c:v>
                  </c:pt>
                  <c:pt idx="7">
                    <c:v>nature_water</c:v>
                  </c:pt>
                  <c:pt idx="8">
                    <c:v>animal_other</c:v>
                  </c:pt>
                  <c:pt idx="9">
                    <c:v>dog_indoor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384</c:v>
                </c:pt>
                <c:pt idx="1">
                  <c:v>187</c:v>
                </c:pt>
                <c:pt idx="2">
                  <c:v>128</c:v>
                </c:pt>
                <c:pt idx="3">
                  <c:v>97</c:v>
                </c:pt>
                <c:pt idx="4">
                  <c:v>84</c:v>
                </c:pt>
                <c:pt idx="5">
                  <c:v>60</c:v>
                </c:pt>
                <c:pt idx="6">
                  <c:v>28</c:v>
                </c:pt>
                <c:pt idx="7">
                  <c:v>22</c:v>
                </c:pt>
                <c:pt idx="8">
                  <c:v>6</c:v>
                </c:pt>
                <c:pt idx="9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3344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D1B2A"/>
                </a:solidFill>
                <a:latin typeface="Arial"/>
              </a:rPr>
              <a:t>Accuracy &amp; F1 Score vs. Number of Trees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E90FF"/>
            </a:solidFill>
            <a:ln w="31750" cap="flat">
              <a:solidFill>
                <a:srgbClr val="1E90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90FF"/>
              </a:solidFill>
              <a:ln w="9525" cap="flat">
                <a:solidFill>
                  <a:srgbClr val="1E90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</c:v>
                  </c:pt>
                  <c:pt idx="1">
                    <c:v>25</c:v>
                  </c:pt>
                  <c:pt idx="2">
                    <c:v>50</c:v>
                  </c:pt>
                  <c:pt idx="3">
                    <c:v>75</c:v>
                  </c:pt>
                  <c:pt idx="4">
                    <c:v>100</c:v>
                  </c:pt>
                  <c:pt idx="5">
                    <c:v>150</c:v>
                  </c:pt>
                  <c:pt idx="6">
                    <c:v>200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40.5</c:v>
                </c:pt>
                <c:pt idx="1">
                  <c:v>48</c:v>
                </c:pt>
                <c:pt idx="2">
                  <c:v>48.5</c:v>
                </c:pt>
                <c:pt idx="3">
                  <c:v>51</c:v>
                </c:pt>
                <c:pt idx="4">
                  <c:v>52.5</c:v>
                </c:pt>
                <c:pt idx="5">
                  <c:v>51</c:v>
                </c:pt>
                <c:pt idx="6">
                  <c:v>51.5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 (%)</c:v>
                </c:pt>
              </c:strCache>
            </c:strRef>
          </c:tx>
          <c:spPr>
            <a:solidFill>
              <a:srgbClr val="00BFA5"/>
            </a:solidFill>
            <a:ln w="31750" cap="flat">
              <a:solidFill>
                <a:srgbClr val="00BFA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FA5"/>
              </a:solidFill>
              <a:ln w="9525" cap="flat">
                <a:solidFill>
                  <a:srgbClr val="00BFA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10</c:v>
                  </c:pt>
                  <c:pt idx="1">
                    <c:v>25</c:v>
                  </c:pt>
                  <c:pt idx="2">
                    <c:v>50</c:v>
                  </c:pt>
                  <c:pt idx="3">
                    <c:v>75</c:v>
                  </c:pt>
                  <c:pt idx="4">
                    <c:v>100</c:v>
                  </c:pt>
                  <c:pt idx="5">
                    <c:v>150</c:v>
                  </c:pt>
                  <c:pt idx="6">
                    <c:v>200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33.4</c:v>
                </c:pt>
                <c:pt idx="1">
                  <c:v>37</c:v>
                </c:pt>
                <c:pt idx="2">
                  <c:v>36.5</c:v>
                </c:pt>
                <c:pt idx="3">
                  <c:v>38.4</c:v>
                </c:pt>
                <c:pt idx="4">
                  <c:v>40.3</c:v>
                </c:pt>
                <c:pt idx="5">
                  <c:v>38.5</c:v>
                </c:pt>
                <c:pt idx="6">
                  <c:v>39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4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IPCV + ML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VisionCaption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Captioning System using MobileNetV2 + Random Forest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468880"/>
            <a:ext cx="8412480" cy="27432"/>
          </a:xfrm>
          <a:prstGeom prst="rect">
            <a:avLst/>
          </a:prstGeom>
          <a:solidFill>
            <a:srgbClr val="1E90FF">
              <a:alpha val="60000"/>
            </a:srgbClr>
          </a:solidFill>
          <a:ln w="12700">
            <a:solidFill>
              <a:srgbClr val="1E90FF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384048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K.S.L.Yuktha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230701154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926080"/>
            <a:ext cx="3840480" cy="1188720"/>
          </a:xfrm>
          <a:prstGeom prst="rect">
            <a:avLst/>
          </a:prstGeom>
          <a:solidFill>
            <a:srgbClr val="1A3A5C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30175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Aishwarya .A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09160" y="3520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230701015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0" y="4754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Flickr8k  |  1000 Samples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VisionCaption automatically generates natural language descriptions of input images by combining IPCV with traditional ML.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920240"/>
            <a:ext cx="2743200" cy="914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1148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0175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CNN converts raw images into 1280-dim numerical feature vectors capturing edges, textures, shapes, and objects.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192024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920240"/>
            <a:ext cx="2743200" cy="914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Classification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30175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classifies image features into 1 of 10 scene categories (e.g. people_sports, dog_outdoor) with probability scores.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920240"/>
            <a:ext cx="2743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920240"/>
            <a:ext cx="2743200" cy="914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7220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Generation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72200" y="301752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label drives selection from curated caption template pools, producing human-readable image descriptions.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Flickr8k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111556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 in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0116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207568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captions per image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92608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97180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303580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used (resource-efficient)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886200"/>
            <a:ext cx="36576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9319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08760" y="3995928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classes derived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206240" y="914400"/>
          <a:ext cx="46634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IPCV Component — MobileNetV2 Feature Extraction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size, any format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55648" y="1188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57400" y="100584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5740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training 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38728" y="1188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100584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→ [-1, 1]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21808" y="1188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23560" y="1005840"/>
            <a:ext cx="1463040" cy="777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2356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2356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on ImageNet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04888" y="11887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90FF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406640" y="1005840"/>
            <a:ext cx="14630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10515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1280-dim Vector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06640" y="14630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visual summary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28600" y="2011680"/>
            <a:ext cx="2834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2011680"/>
            <a:ext cx="283464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MobileNetV2?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" y="26060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CNN pretrained on ImageNet (1.4M images, 1000 classes). Designed for mobile/resource-constrained environments. Used as a frozen feature extractor — not retrained.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2011680"/>
            <a:ext cx="2834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2011680"/>
            <a:ext cx="283464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GlobalAveragePooling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26060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convolution layers detect edges, textures, shapes, and objects, GlobalAveragePooling condenses spatial feature maps into a single compact vector.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72200" y="2011680"/>
            <a:ext cx="2834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72200" y="2011680"/>
            <a:ext cx="2834640" cy="7315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21488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Processing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2606040"/>
            <a:ext cx="2560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1000 images are processed in batches of 32 for memory efficiency. Each image becomes a 1280-dim numerical representation stored for PCA &amp; RF.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Dimensionality Reduction + Random Forest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0233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Dimensionality Reduction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1280 features → slow RF training (curse of dimensionality)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PCA finds 256 most informative directions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85.5% of the original variance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(1000×1280) → (1000×256) feature matrix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pca_model.pkl for inference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3657600" cy="64008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85.5% variance retained  |  1280 → 256 features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34840" y="914400"/>
            <a:ext cx="448056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 (optimal)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1965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trained on random data &amp; feature subsets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2468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prediction = majority vote across all trees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971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class probabilities (not just labels)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train/test split: 800 train, 200 test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outliers; interpretable predictions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434840" y="4114800"/>
            <a:ext cx="4480560" cy="64008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416052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Best: 100 trees  |  Accuracy: 52.5%  |  F1: 40.3%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 — Estimator Checkpoints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566928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96012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100584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60920" y="101498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60920" y="1417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10% random baseline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309360" y="201168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43.5%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360920" y="202082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360920" y="24231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217920" y="297180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309360" y="30175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360920" y="302666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360920" y="3429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avg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217920" y="3977640"/>
            <a:ext cx="26517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309360" y="40233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40.3%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7360920" y="40325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360920" y="4434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Generation &amp; Web Application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601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Generation Pipeline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Prediction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190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"people_sports" at 73% confidence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75488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14884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194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Analysis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24963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cycling/sports sub-features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47548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2608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Pool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2735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scene-specific caption sets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03320"/>
            <a:ext cx="4754880" cy="640080"/>
          </a:xfrm>
          <a:prstGeom prst="rect">
            <a:avLst/>
          </a:prstGeom>
          <a:solidFill>
            <a:srgbClr val="EEF4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03320"/>
            <a:ext cx="365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77240" y="37490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40507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person rides a bicycle down the street"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03520" y="914400"/>
            <a:ext cx="3566160" cy="39319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15087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 endpoint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40680" y="20116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image upload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40680" y="2514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caption + scene + confidence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30175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of per-class probabilities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40680" y="3520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Dark-themed responsive UI (Chart.js)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40233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with full class scores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03520" y="4160520"/>
            <a:ext cx="3566160" cy="685800"/>
          </a:xfrm>
          <a:prstGeom prst="rect">
            <a:avLst/>
          </a:prstGeom>
          <a:solidFill>
            <a:srgbClr val="07111C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94960" y="4206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BF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"scene": "people_sports", "confidence": 0.73 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Inference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64008" cy="7772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image via browser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920240"/>
            <a:ext cx="64008" cy="777240"/>
          </a:xfrm>
          <a:prstGeom prst="rect">
            <a:avLst/>
          </a:prstGeom>
          <a:solidFill>
            <a:srgbClr val="5B9BD5"/>
          </a:solidFill>
          <a:ln w="12700">
            <a:solidFill>
              <a:srgbClr val="5B9B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65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Preprocess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224×224, normalize to [-1,1]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8803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880360"/>
            <a:ext cx="64008" cy="77724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MobileNetV2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1280-dim feature vector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84048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840480"/>
            <a:ext cx="64008" cy="7772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886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PCA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to 256-dim vector (85.5% var)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96012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960120"/>
            <a:ext cx="64008" cy="77724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05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Random Forest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scene + class probabilities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024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920240"/>
            <a:ext cx="64008" cy="7772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19659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Template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331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best caption from scene pool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880360"/>
            <a:ext cx="4206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2880360"/>
            <a:ext cx="64008" cy="77724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292608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Response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291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+ chart sent to frontend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0FF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138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VisionCaption uses MobileNetV2 (IPCV) to extract 1280-dim features → PCA reduces to 256 dims → Random Forest predicts 1 of 10 scenes → scene-aware templates generate natural language captions.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provides rich semantic features without retraining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77063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reduces noise and speeds Random Forest training significantly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3009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52.5% accuracy on 10-class problem (vs 10% random baseline)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831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 provides intuitive end-to-end demo interface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3616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is modular and extensible to LSTM-based generation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111C"/>
          </a:solidFill>
          <a:ln w="12700">
            <a:solidFill>
              <a:srgbClr val="0711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47091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K.S.L.Yuktha (230701154)  &amp;  Aishwarya .A (230701015)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VisionCaption — Image Captioning System</dc:title>
  <dc:subject>PptxGenJS Presentation</dc:subject>
  <dc:creator>PptxGenJS</dc:creator>
  <cp:lastModifiedBy>PptxGenJS</cp:lastModifiedBy>
  <cp:revision>1</cp:revision>
  <dcterms:created xsi:type="dcterms:W3CDTF">2026-05-05T04:21:14Z</dcterms:created>
  <dcterms:modified xsi:type="dcterms:W3CDTF">2026-05-05T04:21:14Z</dcterms:modified>
</cp:coreProperties>
</file>